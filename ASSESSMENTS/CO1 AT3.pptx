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CD1E-72DA-1C55-635D-D5BC355AF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1E5ED-3BCA-58B1-C683-18779B807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B4598-5C30-9DB0-44F5-4560C882E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1E8AB-FBCE-0D6D-EC21-8C0975F8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FB1E1-9393-BBFF-5E24-18D0C861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6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6D58-F780-94A3-AFEC-594C3731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C3BD-35EB-023D-DB9A-645D18952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8FE4B-7D37-3789-B1E3-36D15BAE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779EC-6E9F-F808-C462-35A62338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5EA29-D81F-23F8-0687-7685F052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5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903D-BA87-F032-DE8D-1F743839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3ED3A-FB84-26F6-0D1F-0EEDA3E8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D7714-F9A1-7112-BBEC-AE69F3D9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32BE-4BA2-AA74-B1E2-501EC55E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B471D-6335-0EBA-4163-518C78F5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4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A5DA-6AE4-B230-A702-41F1CC32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1990B-7C87-6427-ECF4-F44051C07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7C2A2-D9DF-321A-FC24-56C3F32F8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08457-724F-FA34-9FD1-46DD9D869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73748-EB9B-CB2B-B759-549F2B4C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766B2-E6B2-6DA8-1FD0-361A738F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3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BE08-91A9-DFDD-FAA4-E1BDC0D9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1AB2F-3A1A-F243-3CC4-EA65CC245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204BC-24D8-B61B-5BF2-43DF0B73F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78E749-267F-616D-4B0C-31C278709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FF3CD-1416-F1A1-B4F9-11F79552F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74C22-A08B-4F03-FD9C-07F3A63F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B6248-EC8D-A665-6644-0AEF5B12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B169B-D654-341F-FB7F-33464AEB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F39B-55A2-3314-22AB-DFD8EA2A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1FF3B-EC04-0E46-05D7-BF89144C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BB120-E89F-1977-8D0D-1F981065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4C9FD-007E-D2C2-1AE8-F215454EF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3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CE8CA-1210-1C14-024A-C03FFEAB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87EA8-2B17-17BA-2D2E-F630717F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D3C45-B349-783B-9794-73EA9659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0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7EEC-6572-EAFF-65C8-BA119504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D79C4-05AA-305A-5457-C6A65077B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29E4F-33DE-50B3-ED73-381BA6CD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3D0F1-598C-F034-02C6-BD87BFDC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EBD55-BD1E-4DB5-51B2-7067BC1C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FDB7F-0902-241C-0A05-C2BCE054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7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2E03-90C8-A247-77C7-E481E821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224B8-3E25-77C3-208E-0081CE76C4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94CC7-D66D-0B26-B0E6-BE006F28C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37B40-4167-BD1C-FAC6-805E6558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C0589-AA95-4FA6-CFA0-A679ECA2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893E7-3867-4EE4-B039-627BBB08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1D43-F96E-EBBF-75EE-925810E4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52390-B53A-BC85-20D5-065E7DA35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B653D-D3EE-8429-38EB-6455441D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52539-861F-E208-C0DD-E5C3B82A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57E76-88DC-618A-E386-DD5FEDF6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6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6121B-D3C4-26FA-C340-A51B6A3BC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72929-0355-208B-CF1E-FFCFBEFB5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381F-799C-DCC8-D4E0-42BF4F57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0E3A5-14A0-DD03-784D-A1D849B7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52484-67C1-FD8F-E00F-4D684AEC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6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55708D-E810-1045-77B6-D5FD367E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E7C8B-CBE6-56AB-7CA8-D70100A0F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475F3-7227-BBAE-9E13-EEEA710F2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7A10-5B15-0D4E-AB0E-2C141C6F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1C8F-8951-0933-0CE6-1CE574478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914400"/>
            <a:ext cx="201168" cy="201168"/>
          </a:xfrm>
          <a:prstGeom prst="ellipse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1645920"/>
            <a:ext cx="146304" cy="146304"/>
          </a:xfrm>
          <a:prstGeom prst="ellipse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35440" y="2926080"/>
            <a:ext cx="256032" cy="256032"/>
          </a:xfrm>
          <a:prstGeom prst="ellipse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3931920"/>
            <a:ext cx="182880" cy="182880"/>
          </a:xfrm>
          <a:prstGeom prst="ellipse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0" y="4846320"/>
            <a:ext cx="146304" cy="146304"/>
          </a:xfrm>
          <a:prstGeom prst="ellipse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5486400"/>
            <a:ext cx="210312" cy="210312"/>
          </a:xfrm>
          <a:prstGeom prst="ellipse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0" y="201168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503920" y="1097280"/>
            <a:ext cx="2057400" cy="640080"/>
          </a:xfrm>
          <a:prstGeom prst="line">
            <a:avLst/>
          </a:prstGeom>
          <a:ln w="12700">
            <a:solidFill>
              <a:srgbClr val="365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03920" y="1097280"/>
            <a:ext cx="822960" cy="1920240"/>
          </a:xfrm>
          <a:prstGeom prst="line">
            <a:avLst/>
          </a:prstGeom>
          <a:ln w="12700">
            <a:solidFill>
              <a:srgbClr val="365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0" y="3017520"/>
            <a:ext cx="1737360" cy="1005840"/>
          </a:xfrm>
          <a:prstGeom prst="line">
            <a:avLst/>
          </a:prstGeom>
          <a:ln w="12700">
            <a:solidFill>
              <a:srgbClr val="365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38160" y="3017520"/>
            <a:ext cx="1188720" cy="1920240"/>
          </a:xfrm>
          <a:prstGeom prst="line">
            <a:avLst/>
          </a:prstGeom>
          <a:ln w="12700">
            <a:solidFill>
              <a:srgbClr val="365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241280" y="4023360"/>
            <a:ext cx="822960" cy="1554480"/>
          </a:xfrm>
          <a:prstGeom prst="line">
            <a:avLst/>
          </a:prstGeom>
          <a:ln w="12700">
            <a:solidFill>
              <a:srgbClr val="365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23760" y="2103120"/>
            <a:ext cx="2103120" cy="914400"/>
          </a:xfrm>
          <a:prstGeom prst="line">
            <a:avLst/>
          </a:prstGeom>
          <a:ln w="12700">
            <a:solidFill>
              <a:srgbClr val="365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0392" y="4977442"/>
            <a:ext cx="4389120" cy="123444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3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  <a:latin typeface="Times New Roman"/>
                <a:cs typeface="Times New Roman"/>
              </a:rPr>
              <a:t>COURSE FACULTY: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LATHA</a:t>
            </a:r>
            <a:endParaRPr lang="en-IN" sz="2400" dirty="0"/>
          </a:p>
        </p:txBody>
      </p: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886CD4F2-243C-753F-F2E3-E9DCD117238F}"/>
              </a:ext>
            </a:extLst>
          </p:cNvPr>
          <p:cNvSpPr/>
          <p:nvPr/>
        </p:nvSpPr>
        <p:spPr>
          <a:xfrm>
            <a:off x="7504176" y="5029200"/>
            <a:ext cx="4389120" cy="1274122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3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  <a:latin typeface="Times New Roman"/>
                <a:cs typeface="Times New Roman"/>
              </a:rPr>
              <a:t>PRESENTED BY</a:t>
            </a:r>
            <a:r>
              <a:rPr lang="en-IN" sz="24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KAVIYA G (192524281)</a:t>
            </a:r>
          </a:p>
          <a:p>
            <a:r>
              <a:rPr lang="en-IN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168633-8E45-022A-1DC8-E4AFE1AC0376}"/>
              </a:ext>
            </a:extLst>
          </p:cNvPr>
          <p:cNvSpPr/>
          <p:nvPr/>
        </p:nvSpPr>
        <p:spPr>
          <a:xfrm>
            <a:off x="850392" y="486098"/>
            <a:ext cx="10378440" cy="192024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</a:t>
            </a:r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in Cloud Environments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5C0F4-7F2C-9E24-EE09-FFBE1CEEACF0}"/>
              </a:ext>
            </a:extLst>
          </p:cNvPr>
          <p:cNvSpPr txBox="1"/>
          <p:nvPr/>
        </p:nvSpPr>
        <p:spPr>
          <a:xfrm>
            <a:off x="1872234" y="2838595"/>
            <a:ext cx="82913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rgbClr val="C00000"/>
                </a:solidFill>
                <a:latin typeface="Times New Roman"/>
                <a:cs typeface="Times New Roman"/>
              </a:rPr>
              <a:t>CSA1513-CLOUD COMPUTIND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03F"/>
                </a:solidFill>
                <a:latin typeface="Aptos"/>
              </a:rPr>
              <a:t>1. What Are Microservices?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dirty="0">
                <a:solidFill>
                  <a:srgbClr val="5F6F87"/>
                </a:solidFill>
                <a:latin typeface="Aptos"/>
              </a:rPr>
              <a:t>One application, built from small services that work together</a:t>
            </a:r>
            <a:r>
              <a:rPr sz="1100" b="0" dirty="0">
                <a:solidFill>
                  <a:srgbClr val="5F6F87"/>
                </a:solidFill>
                <a:latin typeface="Aptos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05840" cy="50292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F87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1325880" cy="310896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E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100" b="1">
                <a:solidFill>
                  <a:srgbClr val="2367DC"/>
                </a:solidFill>
                <a:latin typeface="Aptos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06908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0203F"/>
                </a:solidFill>
                <a:latin typeface="Aptos"/>
              </a:rPr>
              <a:t>Break a large application into smaller, independent services.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4114800" cy="210312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F44"/>
                </a:solidFill>
                <a:latin typeface="Aptos"/>
              </a:defRPr>
            </a:pPr>
            <a:r>
              <a:t>•  Each service owns one business function.</a:t>
            </a:r>
          </a:p>
          <a:p>
            <a:pPr>
              <a:spcAft>
                <a:spcPts val="1200"/>
              </a:spcAft>
              <a:defRPr sz="1600">
                <a:solidFill>
                  <a:srgbClr val="232F44"/>
                </a:solidFill>
                <a:latin typeface="Aptos"/>
              </a:defRPr>
            </a:pPr>
            <a:r>
              <a:t>•  Services communicate through APIs or messages.</a:t>
            </a:r>
          </a:p>
          <a:p>
            <a:pPr>
              <a:spcAft>
                <a:spcPts val="1200"/>
              </a:spcAft>
              <a:defRPr sz="1600">
                <a:solidFill>
                  <a:srgbClr val="232F44"/>
                </a:solidFill>
                <a:latin typeface="Aptos"/>
              </a:defRPr>
            </a:pPr>
            <a:r>
              <a:t>•  Services can be developed and deployed separately.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463040"/>
            <a:ext cx="55778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67DC"/>
                </a:solidFill>
                <a:latin typeface="Aptos"/>
              </a:rPr>
              <a:t>EXAMPLE: ONLINE SHOPPING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965960"/>
            <a:ext cx="1920240" cy="6400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1965960"/>
            <a:ext cx="64008" cy="64008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2075688"/>
            <a:ext cx="16916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03F"/>
                </a:solidFill>
                <a:latin typeface="Aptos"/>
              </a:rPr>
              <a:t>Shopping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414015"/>
            <a:ext cx="1691640" cy="1645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One customer 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333756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0" y="3337560"/>
            <a:ext cx="64008" cy="77724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60" y="3447288"/>
            <a:ext cx="12801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785615"/>
            <a:ext cx="1280160" cy="3017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One clear 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33756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360" y="3337560"/>
            <a:ext cx="64008" cy="777240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3447288"/>
            <a:ext cx="12801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785615"/>
            <a:ext cx="1280160" cy="3017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One clear job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33756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20" y="3337560"/>
            <a:ext cx="64008" cy="777240"/>
          </a:xfrm>
          <a:prstGeom prst="rect">
            <a:avLst/>
          </a:prstGeom>
          <a:solidFill>
            <a:srgbClr val="2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3447288"/>
            <a:ext cx="12801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785615"/>
            <a:ext cx="1280160" cy="3017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One clear job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443484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58400" y="4434840"/>
            <a:ext cx="64008" cy="777240"/>
          </a:xfrm>
          <a:prstGeom prst="rect">
            <a:avLst/>
          </a:prstGeom>
          <a:solidFill>
            <a:srgbClr val="F2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95560" y="4544568"/>
            <a:ext cx="12801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4882896"/>
            <a:ext cx="1280160" cy="3017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One clear job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473952" y="2606040"/>
            <a:ext cx="1984248" cy="704088"/>
          </a:xfrm>
          <a:prstGeom prst="line">
            <a:avLst/>
          </a:prstGeom>
          <a:ln w="19050">
            <a:solidFill>
              <a:srgbClr val="236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211312" y="2606040"/>
            <a:ext cx="246888" cy="704088"/>
          </a:xfrm>
          <a:prstGeom prst="line">
            <a:avLst/>
          </a:prstGeom>
          <a:ln w="19050">
            <a:solidFill>
              <a:srgbClr val="236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458200" y="2606040"/>
            <a:ext cx="1490472" cy="704088"/>
          </a:xfrm>
          <a:prstGeom prst="line">
            <a:avLst/>
          </a:prstGeom>
          <a:ln w="19050">
            <a:solidFill>
              <a:srgbClr val="236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966960" y="4096512"/>
            <a:ext cx="777240" cy="310896"/>
          </a:xfrm>
          <a:prstGeom prst="line">
            <a:avLst/>
          </a:prstGeom>
          <a:ln w="19050">
            <a:solidFill>
              <a:srgbClr val="F29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60720" y="5532120"/>
            <a:ext cx="5577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F6F87"/>
                </a:solidFill>
                <a:latin typeface="Aptos"/>
              </a:rPr>
              <a:t>Separate services • One complete 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473952"/>
            <a:ext cx="4114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F87"/>
                </a:solidFill>
                <a:latin typeface="Aptos"/>
              </a:rPr>
              <a:t>MICROSERVICES • CLOUD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03F"/>
                </a:solidFill>
                <a:latin typeface="Aptos"/>
              </a:rPr>
              <a:t>2. System Architecture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Follow the arrows: user request → gateway → services → data and cloud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05840" cy="50292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F8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452628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97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828800" cy="310896"/>
          </a:xfrm>
          <a:prstGeom prst="roundRect">
            <a:avLst/>
          </a:prstGeom>
          <a:solidFill>
            <a:srgbClr val="DDEAFF"/>
          </a:solidFill>
          <a:ln w="12700">
            <a:solidFill>
              <a:srgbClr val="DD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10203F"/>
                </a:solidFill>
                <a:latin typeface="Aptos"/>
              </a:rPr>
              <a:t>CLOUD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64008" cy="9144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90088"/>
            <a:ext cx="11430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03F"/>
                </a:solidFill>
                <a:latin typeface="Apto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5"/>
            <a:ext cx="11430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F6F87"/>
                </a:solidFill>
                <a:latin typeface="Aptos"/>
              </a:rPr>
              <a:t>Web / mobile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788920"/>
            <a:ext cx="1600200" cy="1097280"/>
          </a:xfrm>
          <a:prstGeom prst="roundRect">
            <a:avLst/>
          </a:prstGeom>
          <a:solidFill>
            <a:srgbClr val="E4EFFF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06040" y="2788920"/>
            <a:ext cx="64008" cy="109728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2898648"/>
            <a:ext cx="13716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03F"/>
                </a:solidFill>
                <a:latin typeface="Aptos"/>
              </a:rP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36976"/>
            <a:ext cx="1371600" cy="6217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F6F87"/>
                </a:solidFill>
                <a:latin typeface="Aptos"/>
              </a:rPr>
              <a:t>Routes requests
Security • Entry point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48840" y="3337560"/>
            <a:ext cx="438912" cy="0"/>
          </a:xfrm>
          <a:prstGeom prst="line">
            <a:avLst/>
          </a:prstGeom>
          <a:ln w="29209">
            <a:solidFill>
              <a:srgbClr val="236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26280" y="2057400"/>
            <a:ext cx="4343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EC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2176272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367DC"/>
                </a:solidFill>
                <a:latin typeface="Aptos"/>
              </a:rPr>
              <a:t>INDEPENDENT MICROSERVICES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697480"/>
            <a:ext cx="1188720" cy="685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2697480"/>
            <a:ext cx="64008" cy="6858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2807208"/>
            <a:ext cx="960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Product
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697480"/>
            <a:ext cx="1188720" cy="685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2697480"/>
            <a:ext cx="64008" cy="685800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807208"/>
            <a:ext cx="960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Order
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697480"/>
            <a:ext cx="1188720" cy="685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4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9520" y="2697480"/>
            <a:ext cx="64008" cy="685800"/>
          </a:xfrm>
          <a:prstGeom prst="rect">
            <a:avLst/>
          </a:prstGeom>
          <a:solidFill>
            <a:srgbClr val="2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80" y="2807208"/>
            <a:ext cx="960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Payment
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3749039"/>
            <a:ext cx="1188720" cy="685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F2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40680" y="3749039"/>
            <a:ext cx="64008" cy="685800"/>
          </a:xfrm>
          <a:prstGeom prst="rect">
            <a:avLst/>
          </a:prstGeom>
          <a:solidFill>
            <a:srgbClr val="F2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3858768"/>
            <a:ext cx="960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Delivery
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3749039"/>
            <a:ext cx="1188720" cy="685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95160" y="3749039"/>
            <a:ext cx="64008" cy="6858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0" y="3858768"/>
            <a:ext cx="960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Notification
Service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06240" y="3337560"/>
            <a:ext cx="530352" cy="0"/>
          </a:xfrm>
          <a:prstGeom prst="line">
            <a:avLst/>
          </a:prstGeom>
          <a:ln w="27940">
            <a:solidFill>
              <a:srgbClr val="236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943600" y="3044952"/>
            <a:ext cx="210312" cy="0"/>
          </a:xfrm>
          <a:prstGeom prst="line">
            <a:avLst/>
          </a:prstGeom>
          <a:ln w="19050">
            <a:solidFill>
              <a:srgbClr val="2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60920" y="3044952"/>
            <a:ext cx="210311" cy="0"/>
          </a:xfrm>
          <a:prstGeom prst="line">
            <a:avLst/>
          </a:prstGeom>
          <a:ln w="19050">
            <a:solidFill>
              <a:srgbClr val="24A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080760" y="3401568"/>
            <a:ext cx="685800" cy="329184"/>
          </a:xfrm>
          <a:prstGeom prst="line">
            <a:avLst/>
          </a:prstGeom>
          <a:ln w="16510">
            <a:solidFill>
              <a:srgbClr val="F29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635240" y="3401568"/>
            <a:ext cx="457200" cy="329184"/>
          </a:xfrm>
          <a:prstGeom prst="line">
            <a:avLst/>
          </a:prstGeom>
          <a:ln w="16510">
            <a:solidFill>
              <a:srgbClr val="7E5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235440" y="251460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35440" y="2514600"/>
            <a:ext cx="64008" cy="960120"/>
          </a:xfrm>
          <a:prstGeom prst="rect">
            <a:avLst/>
          </a:prstGeom>
          <a:solidFill>
            <a:srgbClr val="2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72600" y="2624328"/>
            <a:ext cx="1645919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03F"/>
                </a:solidFill>
                <a:latin typeface="Aptos"/>
              </a:rPr>
              <a:t>Data Stores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2962656"/>
            <a:ext cx="164591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F6F87"/>
                </a:solidFill>
                <a:latin typeface="Aptos"/>
              </a:rPr>
              <a:t>Each service owns
its required data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8869680" y="3017520"/>
            <a:ext cx="347472" cy="320040"/>
          </a:xfrm>
          <a:prstGeom prst="line">
            <a:avLst/>
          </a:prstGeom>
          <a:ln w="25400">
            <a:solidFill>
              <a:srgbClr val="24A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606040" y="5166360"/>
            <a:ext cx="8503920" cy="502920"/>
          </a:xfrm>
          <a:prstGeom prst="roundRect">
            <a:avLst/>
          </a:prstGeom>
          <a:solidFill>
            <a:srgbClr val="E1F1FA"/>
          </a:solidFill>
          <a:ln w="12700">
            <a:solidFill>
              <a:srgbClr val="A4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43200" y="5285232"/>
            <a:ext cx="8229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CLOUD OPERATIONS:  Containers • Orchestration • Load Balancing • Monitoring • CI/CD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75120" y="4800600"/>
            <a:ext cx="0" cy="338328"/>
          </a:xfrm>
          <a:prstGeom prst="line">
            <a:avLst/>
          </a:prstGeom>
          <a:ln w="17780">
            <a:solidFill>
              <a:srgbClr val="236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2960" y="6144768"/>
            <a:ext cx="10698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Example: an order request can call Order → Payment → Delivery; each service can be scaled and updated separately.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473952"/>
            <a:ext cx="4114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F87"/>
                </a:solidFill>
                <a:latin typeface="Aptos"/>
              </a:rPr>
              <a:t>MICROSERVICES • CLOUD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03F"/>
                </a:solidFill>
                <a:latin typeface="Aptos"/>
              </a:rPr>
              <a:t>3. Monolithic vs.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The key difference is how application parts are organized and deployed.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05840" cy="50292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F87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64208"/>
            <a:ext cx="1417320" cy="310896"/>
          </a:xfrm>
          <a:prstGeom prst="roundRect">
            <a:avLst/>
          </a:prstGeom>
          <a:solidFill>
            <a:srgbClr val="FFEFE0"/>
          </a:solidFill>
          <a:ln w="12700">
            <a:solidFill>
              <a:srgbClr val="FF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F29C42"/>
                </a:solidFill>
                <a:latin typeface="Aptos"/>
              </a:rPr>
              <a:t>MONOLITHIC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64208"/>
            <a:ext cx="1600200" cy="310896"/>
          </a:xfrm>
          <a:prstGeom prst="roundRect">
            <a:avLst/>
          </a:prstGeom>
          <a:solidFill>
            <a:srgbClr val="DEF6F1"/>
          </a:solidFill>
          <a:ln w="12700">
            <a:solidFill>
              <a:srgbClr val="DE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24A078"/>
                </a:solidFill>
                <a:latin typeface="Aptos"/>
              </a:rPr>
              <a:t>MICROSERVICES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240280"/>
            <a:ext cx="3886200" cy="1417320"/>
          </a:xfrm>
          <a:prstGeom prst="roundRect">
            <a:avLst/>
          </a:prstGeom>
          <a:solidFill>
            <a:srgbClr val="FFF6ED"/>
          </a:solidFill>
          <a:ln w="12700">
            <a:solidFill>
              <a:srgbClr val="F2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450592"/>
            <a:ext cx="3429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203F"/>
                </a:solidFill>
                <a:latin typeface="Aptos"/>
              </a:rPr>
              <a:t>ONE LARGE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2971800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F29C42"/>
                </a:solidFill>
                <a:latin typeface="Aptos"/>
              </a:rPr>
              <a:t>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5768" y="2971800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F29C42"/>
                </a:solidFill>
                <a:latin typeface="Aptos"/>
              </a:rPr>
              <a:t>Business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2971800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F29C42"/>
                </a:solidFill>
                <a:latin typeface="Aptos"/>
              </a:rPr>
              <a:t>Data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514600"/>
            <a:ext cx="1051560" cy="82296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9400" y="2514600"/>
            <a:ext cx="64008" cy="82296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2624328"/>
            <a:ext cx="822959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962656"/>
            <a:ext cx="8229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F6F87"/>
                </a:solidFill>
                <a:latin typeface="Aptos"/>
              </a:rPr>
              <a:t>Separate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514600"/>
            <a:ext cx="1051560" cy="82296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18120" y="2514600"/>
            <a:ext cx="64008" cy="822960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2624328"/>
            <a:ext cx="822959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962656"/>
            <a:ext cx="8229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F6F87"/>
                </a:solidFill>
                <a:latin typeface="Aptos"/>
              </a:rPr>
              <a:t>Separate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2514600"/>
            <a:ext cx="1051560" cy="82296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4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6840" y="2514600"/>
            <a:ext cx="64008" cy="822960"/>
          </a:xfrm>
          <a:prstGeom prst="rect">
            <a:avLst/>
          </a:prstGeom>
          <a:solidFill>
            <a:srgbClr val="2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2624328"/>
            <a:ext cx="822959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962656"/>
            <a:ext cx="8229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F6F87"/>
                </a:solidFill>
                <a:latin typeface="Aptos"/>
              </a:rPr>
              <a:t>Separate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2514600"/>
            <a:ext cx="1051560" cy="82296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F2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195560" y="2514600"/>
            <a:ext cx="64008" cy="822960"/>
          </a:xfrm>
          <a:prstGeom prst="rect">
            <a:avLst/>
          </a:prstGeom>
          <a:solidFill>
            <a:srgbClr val="F2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2720" y="2624328"/>
            <a:ext cx="822959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962656"/>
            <a:ext cx="8229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F6F87"/>
                </a:solidFill>
                <a:latin typeface="Aptos"/>
              </a:rPr>
              <a:t>Separate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977639"/>
            <a:ext cx="4526280" cy="164592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F44"/>
                </a:solidFill>
                <a:latin typeface="Aptos"/>
              </a:defRPr>
            </a:pPr>
            <a:r>
              <a:t>•  Tightly connected components</a:t>
            </a:r>
          </a:p>
          <a:p>
            <a:pPr>
              <a:spcAft>
                <a:spcPts val="700"/>
              </a:spcAft>
              <a:defRPr sz="1400">
                <a:solidFill>
                  <a:srgbClr val="232F44"/>
                </a:solidFill>
                <a:latin typeface="Aptos"/>
              </a:defRPr>
            </a:pPr>
            <a:r>
              <a:t>•  Often redeploy the whole app</a:t>
            </a:r>
          </a:p>
          <a:p>
            <a:pPr>
              <a:spcAft>
                <a:spcPts val="700"/>
              </a:spcAft>
              <a:defRPr sz="1400">
                <a:solidFill>
                  <a:srgbClr val="232F44"/>
                </a:solidFill>
                <a:latin typeface="Aptos"/>
              </a:defRPr>
            </a:pPr>
            <a:r>
              <a:t>•  Scale the application as a unit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77639"/>
            <a:ext cx="4572000" cy="164592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F44"/>
                </a:solidFill>
                <a:latin typeface="Aptos"/>
              </a:defRPr>
            </a:pPr>
            <a:r>
              <a:t>•  Loosely coupled services</a:t>
            </a:r>
          </a:p>
          <a:p>
            <a:pPr>
              <a:spcAft>
                <a:spcPts val="700"/>
              </a:spcAft>
              <a:defRPr sz="1400">
                <a:solidFill>
                  <a:srgbClr val="232F44"/>
                </a:solidFill>
                <a:latin typeface="Aptos"/>
              </a:defRPr>
            </a:pPr>
            <a:r>
              <a:t>•  Deploy services independently</a:t>
            </a:r>
          </a:p>
          <a:p>
            <a:pPr>
              <a:spcAft>
                <a:spcPts val="700"/>
              </a:spcAft>
              <a:defRPr sz="1400">
                <a:solidFill>
                  <a:srgbClr val="232F44"/>
                </a:solidFill>
                <a:latin typeface="Aptos"/>
              </a:defRPr>
            </a:pPr>
            <a:r>
              <a:t>•  Scale only the busy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473952"/>
            <a:ext cx="4114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F87"/>
                </a:solidFill>
                <a:latin typeface="Aptos"/>
              </a:rPr>
              <a:t>MICROSERVICES • CLOUD COMPUTING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03F"/>
                </a:solidFill>
                <a:latin typeface="Aptos"/>
              </a:rPr>
              <a:t>4. Main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Microservices make it easier to change, scale, and maintain large applications.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05840" cy="50292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F87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737360"/>
            <a:ext cx="475488" cy="475488"/>
          </a:xfrm>
          <a:prstGeom prst="ellipse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4754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3736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39"/>
            <a:ext cx="26974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F87"/>
                </a:solidFill>
                <a:latin typeface="Aptos"/>
              </a:rPr>
              <a:t>Add capacity only to services with high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43400" y="1737360"/>
            <a:ext cx="475488" cy="475488"/>
          </a:xfrm>
          <a:prstGeom prst="ellipse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764792"/>
            <a:ext cx="4754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73736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77439"/>
            <a:ext cx="26974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F87"/>
                </a:solidFill>
                <a:latin typeface="Aptos"/>
              </a:rPr>
              <a:t>Choose suitable tools for different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50876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18119" y="1737360"/>
            <a:ext cx="475488" cy="475488"/>
          </a:xfrm>
          <a:prstGeom prst="ellipse">
            <a:avLst/>
          </a:prstGeom>
          <a:solidFill>
            <a:srgbClr val="2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19" y="1764792"/>
            <a:ext cx="4754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73736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INDEPENDENT RELEASES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377439"/>
            <a:ext cx="26974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F87"/>
                </a:solidFill>
                <a:latin typeface="Aptos"/>
              </a:rPr>
              <a:t>Update one service without redeploying all others.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3886200"/>
            <a:ext cx="475488" cy="475488"/>
          </a:xfrm>
          <a:prstGeom prst="ellipse">
            <a:avLst/>
          </a:prstGeom>
          <a:solidFill>
            <a:srgbClr val="F2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13632"/>
            <a:ext cx="4754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88620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FAULT ISOLATION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26974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F87"/>
                </a:solidFill>
                <a:latin typeface="Aptos"/>
              </a:rPr>
              <a:t>One service failure may be contained.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65760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343400" y="3886200"/>
            <a:ext cx="475488" cy="47548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3400" y="3913632"/>
            <a:ext cx="4754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388620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TEAM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526280"/>
            <a:ext cx="26974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F87"/>
                </a:solidFill>
                <a:latin typeface="Aptos"/>
              </a:rPr>
              <a:t>Different teams can own different services.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365760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818119" y="3886200"/>
            <a:ext cx="475488" cy="475488"/>
          </a:xfrm>
          <a:prstGeom prst="ellipse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18119" y="3913632"/>
            <a:ext cx="4754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88620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03F"/>
                </a:solidFill>
                <a:latin typeface="Aptos"/>
              </a:rPr>
              <a:t>CLOUD EFFICIENCY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526280"/>
            <a:ext cx="26974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F87"/>
                </a:solidFill>
                <a:latin typeface="Aptos"/>
              </a:rPr>
              <a:t>Adjust resources as demand changes.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473952"/>
            <a:ext cx="4114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F87"/>
                </a:solidFill>
                <a:latin typeface="Aptos"/>
              </a:rPr>
              <a:t>MICROSERVICES • CLOUD COMPUTING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03F"/>
                </a:solidFill>
                <a:latin typeface="Aptos"/>
              </a:rPr>
              <a:t>5. Challenges and How Teams Handle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Microservices are powerful, but they need strong engineering practices.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05840" cy="50292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F8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0392" y="1581912"/>
            <a:ext cx="1371600" cy="310896"/>
          </a:xfrm>
          <a:prstGeom prst="roundRect">
            <a:avLst/>
          </a:prstGeom>
          <a:solidFill>
            <a:srgbClr val="F29C42"/>
          </a:solidFill>
          <a:ln w="12700">
            <a:solidFill>
              <a:srgbClr val="F2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554480"/>
            <a:ext cx="3291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Many services to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47548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Response: Use clear ownership and documentation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73952" y="1581912"/>
            <a:ext cx="1371600" cy="310896"/>
          </a:xfrm>
          <a:prstGeom prst="roundRect">
            <a:avLst/>
          </a:prstGeom>
          <a:solidFill>
            <a:srgbClr val="2367DC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Network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554480"/>
            <a:ext cx="3291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Calls between services can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7548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Response: Use timeouts, retries and graceful fallbacks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0392" y="3063240"/>
            <a:ext cx="1371600" cy="310896"/>
          </a:xfrm>
          <a:prstGeom prst="roundRect">
            <a:avLst/>
          </a:prstGeom>
          <a:solidFill>
            <a:srgbClr val="DB535C"/>
          </a:solidFill>
          <a:ln w="12700">
            <a:solidFill>
              <a:srgbClr val="DB5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035808"/>
            <a:ext cx="3291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More endpoints to 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57015"/>
            <a:ext cx="47548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Response: Use identity, least privilege and encryption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98648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73952" y="3063240"/>
            <a:ext cx="1371600" cy="310896"/>
          </a:xfrm>
          <a:prstGeom prst="roundRect">
            <a:avLst/>
          </a:prstGeom>
          <a:solidFill>
            <a:srgbClr val="7E57C2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035808"/>
            <a:ext cx="3291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Hard to trace one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57015"/>
            <a:ext cx="47548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Response: Centralize logs, metrics and distributed traces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79976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50392" y="4544568"/>
            <a:ext cx="1371600" cy="310896"/>
          </a:xfrm>
          <a:prstGeom prst="roundRect">
            <a:avLst/>
          </a:prstGeom>
          <a:solidFill>
            <a:srgbClr val="24A078"/>
          </a:solidFill>
          <a:ln w="12700">
            <a:solidFill>
              <a:srgbClr val="24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Data consistency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517136"/>
            <a:ext cx="3291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Data may live in separate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38344"/>
            <a:ext cx="47548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Response: Use clear data ownership and reliable events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379976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73952" y="4544568"/>
            <a:ext cx="1371600" cy="310896"/>
          </a:xfrm>
          <a:prstGeom prst="roundRect">
            <a:avLst/>
          </a:prstGeom>
          <a:solidFill>
            <a:srgbClr val="2FBED2"/>
          </a:solidFill>
          <a:ln w="12700">
            <a:solidFill>
              <a:srgbClr val="2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517136"/>
            <a:ext cx="3291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More infrastructure may be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38344"/>
            <a:ext cx="47548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Response: Monitor usage and scale based on 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473952"/>
            <a:ext cx="4114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F87"/>
                </a:solidFill>
                <a:latin typeface="Aptos"/>
              </a:rPr>
              <a:t>MICROSERVICES • CLOUD COMPUTING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03F"/>
                </a:solidFill>
                <a:latin typeface="Aptos"/>
              </a:rPr>
              <a:t>6. Microservices in the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Each layer has a different role in deploying and operating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05840" cy="50292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F87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417320"/>
            <a:ext cx="6766560" cy="621792"/>
          </a:xfrm>
          <a:prstGeom prst="roundRect">
            <a:avLst/>
          </a:prstGeom>
          <a:solidFill>
            <a:srgbClr val="E4EFFF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1490472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03F"/>
                </a:solidFill>
                <a:latin typeface="Aptos"/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490472"/>
            <a:ext cx="4069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2F44"/>
                </a:solidFill>
                <a:latin typeface="Aptos"/>
              </a:rPr>
              <a:t>Web / mobile app • Customer requests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34840" y="2039112"/>
            <a:ext cx="0" cy="155448"/>
          </a:xfrm>
          <a:prstGeom prst="line">
            <a:avLst/>
          </a:prstGeom>
          <a:ln w="15240">
            <a:solidFill>
              <a:srgbClr val="5F6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51560" y="2221992"/>
            <a:ext cx="6766560" cy="621792"/>
          </a:xfrm>
          <a:prstGeom prst="roundRect">
            <a:avLst/>
          </a:prstGeom>
          <a:solidFill>
            <a:srgbClr val="E0F6F8"/>
          </a:solidFill>
          <a:ln w="12700">
            <a:solidFill>
              <a:srgbClr val="2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295144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03F"/>
                </a:solidFill>
                <a:latin typeface="Aptos"/>
              </a:rPr>
              <a:t>API &amp;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95144"/>
            <a:ext cx="4069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2F44"/>
                </a:solidFill>
                <a:latin typeface="Aptos"/>
              </a:rPr>
              <a:t>API Gateway • REST / gRPC • Messaging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843784"/>
            <a:ext cx="0" cy="155448"/>
          </a:xfrm>
          <a:prstGeom prst="line">
            <a:avLst/>
          </a:prstGeom>
          <a:ln w="15240">
            <a:solidFill>
              <a:srgbClr val="5F6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1560" y="3026664"/>
            <a:ext cx="6766560" cy="621792"/>
          </a:xfrm>
          <a:prstGeom prst="roundRect">
            <a:avLst/>
          </a:prstGeom>
          <a:solidFill>
            <a:srgbClr val="E1F6EF"/>
          </a:solidFill>
          <a:ln w="12700">
            <a:solidFill>
              <a:srgbClr val="24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3099816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03F"/>
                </a:solidFill>
                <a:latin typeface="Aptos"/>
              </a:rPr>
              <a:t>MICROSERVICES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99816"/>
            <a:ext cx="4069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2F44"/>
                </a:solidFill>
                <a:latin typeface="Aptos"/>
              </a:rPr>
              <a:t>Product • Orders • Payments • Delivery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34840" y="3648456"/>
            <a:ext cx="0" cy="155448"/>
          </a:xfrm>
          <a:prstGeom prst="line">
            <a:avLst/>
          </a:prstGeom>
          <a:ln w="15240">
            <a:solidFill>
              <a:srgbClr val="5F6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1560" y="3831336"/>
            <a:ext cx="6766560" cy="621792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F2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61872" y="3904488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03F"/>
                </a:solidFill>
                <a:latin typeface="Aptos"/>
              </a:rPr>
              <a:t>CONTAINERS &amp;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904488"/>
            <a:ext cx="4069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2F44"/>
                </a:solidFill>
                <a:latin typeface="Aptos"/>
              </a:rPr>
              <a:t>Docker packages services • Kubernetes manages containers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4453128"/>
            <a:ext cx="0" cy="155448"/>
          </a:xfrm>
          <a:prstGeom prst="line">
            <a:avLst/>
          </a:prstGeom>
          <a:ln w="15240">
            <a:solidFill>
              <a:srgbClr val="5F6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1560" y="4636008"/>
            <a:ext cx="6766560" cy="621792"/>
          </a:xfrm>
          <a:prstGeom prst="roundRect">
            <a:avLst/>
          </a:prstGeom>
          <a:solidFill>
            <a:srgbClr val="EFE9FC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61872" y="4709160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03F"/>
                </a:solidFill>
                <a:latin typeface="Aptos"/>
              </a:rPr>
              <a:t>CLOUD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709160"/>
            <a:ext cx="4069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2F44"/>
                </a:solidFill>
                <a:latin typeface="Aptos"/>
              </a:rPr>
              <a:t>Compute • Networking • Storage • Managed databases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508760"/>
            <a:ext cx="29718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0" y="1783080"/>
            <a:ext cx="2468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367DC"/>
                </a:solidFill>
                <a:latin typeface="Aptos"/>
              </a:rPr>
              <a:t>CLOUD TOOLKIT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331720"/>
            <a:ext cx="2423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AWS / Azure / Google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532888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Cloud platforms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834639"/>
            <a:ext cx="2423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035808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Container packaging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337560"/>
            <a:ext cx="2423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Kubernetes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538728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Container orchestration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840480"/>
            <a:ext cx="2423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CI/CD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041648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Automated test &amp; 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343400"/>
            <a:ext cx="2423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Observability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544568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F6F87"/>
                </a:solidFill>
                <a:latin typeface="Aptos"/>
              </a:rPr>
              <a:t>Logs, metrics, traces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F6F87"/>
                </a:solidFill>
                <a:latin typeface="Aptos"/>
              </a:rPr>
              <a:t>Remember: Docker and Kubernetes support microservices; they are not microservices themselves.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473952"/>
            <a:ext cx="4114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5F6F87"/>
                </a:solidFill>
                <a:latin typeface="Aptos"/>
              </a:rPr>
              <a:t>MICROSERVICES • CLOUD COMPUTING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03F"/>
                </a:solidFill>
                <a:latin typeface="Aptos"/>
              </a:rPr>
              <a:t>7. Industry Implementations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Real platforms use distributed services to support many users and frequent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05840" cy="50292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F87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29000" cy="164592"/>
          </a:xfrm>
          <a:prstGeom prst="rect">
            <a:avLst/>
          </a:prstGeom>
          <a:solidFill>
            <a:srgbClr val="DB5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965960" y="2057400"/>
            <a:ext cx="960120" cy="960120"/>
          </a:xfrm>
          <a:prstGeom prst="ellipse">
            <a:avLst/>
          </a:prstGeom>
          <a:solidFill>
            <a:srgbClr val="DB5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2258568"/>
            <a:ext cx="9601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971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03F"/>
                </a:solidFill>
                <a:latin typeface="Aptos"/>
              </a:rPr>
              <a:t>NETFLIX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2971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DB535C"/>
                </a:solidFill>
                <a:latin typeface="Aptos"/>
              </a:rPr>
              <a:t>Streaming &amp;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96512"/>
            <a:ext cx="288036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Separate services support playback, profiles and personalization.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645920"/>
            <a:ext cx="3429000" cy="164592"/>
          </a:xfrm>
          <a:prstGeom prst="rect">
            <a:avLst/>
          </a:prstGeom>
          <a:solidFill>
            <a:srgbClr val="F2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60720" y="2057400"/>
            <a:ext cx="960120" cy="960120"/>
          </a:xfrm>
          <a:prstGeom prst="ellipse">
            <a:avLst/>
          </a:prstGeom>
          <a:solidFill>
            <a:srgbClr val="F2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2258568"/>
            <a:ext cx="9601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46120"/>
            <a:ext cx="2971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03F"/>
                </a:solidFill>
                <a:latin typeface="Aptos"/>
              </a:rPr>
              <a:t>AMAZON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57600"/>
            <a:ext cx="2971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29C42"/>
                </a:solidFill>
                <a:latin typeface="Aptos"/>
              </a:rPr>
              <a:t>E-commerce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096512"/>
            <a:ext cx="288036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Services support catalog, orders, payments and fulfilment.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4592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1645920"/>
            <a:ext cx="3429000" cy="164592"/>
          </a:xfrm>
          <a:prstGeom prst="rect">
            <a:avLst/>
          </a:prstGeom>
          <a:solidFill>
            <a:srgbClr val="2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55480" y="2057400"/>
            <a:ext cx="960120" cy="960120"/>
          </a:xfrm>
          <a:prstGeom prst="ellipse">
            <a:avLst/>
          </a:prstGeom>
          <a:solidFill>
            <a:srgbClr val="2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2258568"/>
            <a:ext cx="9601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246120"/>
            <a:ext cx="2971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03F"/>
                </a:solidFill>
                <a:latin typeface="Aptos"/>
              </a:rPr>
              <a:t>UBER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657600"/>
            <a:ext cx="2971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4A078"/>
                </a:solidFill>
                <a:latin typeface="Aptos"/>
              </a:rPr>
              <a:t>Ride-hailing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096512"/>
            <a:ext cx="288036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F6F87"/>
                </a:solidFill>
                <a:latin typeface="Aptos"/>
              </a:rPr>
              <a:t>Services support trips, driver workflows, pricing and payments.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440680"/>
            <a:ext cx="10012680" cy="56692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E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5596128"/>
            <a:ext cx="9646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203F"/>
                </a:solidFill>
                <a:latin typeface="Aptos"/>
              </a:rPr>
              <a:t>Key idea: services help large platforms evolve independently; exact internal designs vary by company.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4114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F87"/>
                </a:solidFill>
                <a:latin typeface="Aptos"/>
              </a:rPr>
              <a:t>MICROSERVICES • CLOUD COMPUTING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C9F088-46D7-C5A4-F019-50FA5D83CE91}"/>
              </a:ext>
            </a:extLst>
          </p:cNvPr>
          <p:cNvSpPr/>
          <p:nvPr/>
        </p:nvSpPr>
        <p:spPr>
          <a:xfrm>
            <a:off x="941832" y="576072"/>
            <a:ext cx="1417320" cy="310896"/>
          </a:xfrm>
          <a:prstGeom prst="roundRect">
            <a:avLst/>
          </a:prstGeom>
          <a:solidFill>
            <a:srgbClr val="1D375D"/>
          </a:solidFill>
          <a:ln w="12700">
            <a:solidFill>
              <a:srgbClr val="1D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2FBED2"/>
                </a:solidFill>
                <a:latin typeface="Aptos"/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23B8A-7FEF-A144-5106-147EF8C9098A}"/>
              </a:ext>
            </a:extLst>
          </p:cNvPr>
          <p:cNvSpPr txBox="1"/>
          <p:nvPr/>
        </p:nvSpPr>
        <p:spPr>
          <a:xfrm>
            <a:off x="731520" y="1234440"/>
            <a:ext cx="7498079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FF0000"/>
                </a:solidFill>
                <a:latin typeface="Aptos"/>
              </a:rPr>
              <a:t>Build small. Connect clearly. Scale wisely.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A5C37-8326-E490-6F71-0E2728962629}"/>
              </a:ext>
            </a:extLst>
          </p:cNvPr>
          <p:cNvSpPr txBox="1"/>
          <p:nvPr/>
        </p:nvSpPr>
        <p:spPr>
          <a:xfrm>
            <a:off x="777240" y="2057400"/>
            <a:ext cx="65836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FBED2"/>
                </a:solidFill>
                <a:latin typeface="Aptos"/>
              </a:rPr>
              <a:t>Microservices + Cloud = flexible, independently deployable applications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5CA10F-19D0-43B7-B880-3BF51569EE6A}"/>
              </a:ext>
            </a:extLst>
          </p:cNvPr>
          <p:cNvSpPr/>
          <p:nvPr/>
        </p:nvSpPr>
        <p:spPr>
          <a:xfrm>
            <a:off x="777240" y="2971800"/>
            <a:ext cx="2057400" cy="150876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3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8A367E-A0E7-918E-11F3-765180DD1A65}"/>
              </a:ext>
            </a:extLst>
          </p:cNvPr>
          <p:cNvSpPr txBox="1"/>
          <p:nvPr/>
        </p:nvSpPr>
        <p:spPr>
          <a:xfrm>
            <a:off x="914400" y="3246120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367DC"/>
                </a:solidFill>
                <a:latin typeface="Aptos"/>
              </a:rPr>
              <a:t>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EC208-6154-58D3-8FF2-033298D7C0BD}"/>
              </a:ext>
            </a:extLst>
          </p:cNvPr>
          <p:cNvSpPr txBox="1"/>
          <p:nvPr/>
        </p:nvSpPr>
        <p:spPr>
          <a:xfrm>
            <a:off x="941832" y="3657600"/>
            <a:ext cx="1737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Split the app into focused services.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CCF49E-D739-BF7D-EDC5-B43F4BB4772B}"/>
              </a:ext>
            </a:extLst>
          </p:cNvPr>
          <p:cNvSpPr/>
          <p:nvPr/>
        </p:nvSpPr>
        <p:spPr>
          <a:xfrm>
            <a:off x="3108960" y="2971800"/>
            <a:ext cx="2057400" cy="150876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3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2C955-6D30-4299-65A5-F9858A26E909}"/>
              </a:ext>
            </a:extLst>
          </p:cNvPr>
          <p:cNvSpPr txBox="1"/>
          <p:nvPr/>
        </p:nvSpPr>
        <p:spPr>
          <a:xfrm>
            <a:off x="3246120" y="3246120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4A078"/>
                </a:solidFill>
                <a:latin typeface="Aptos"/>
              </a:rPr>
              <a:t>BENEFIT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2ED82-538F-535C-0F4C-919F8B2D2065}"/>
              </a:ext>
            </a:extLst>
          </p:cNvPr>
          <p:cNvSpPr txBox="1"/>
          <p:nvPr/>
        </p:nvSpPr>
        <p:spPr>
          <a:xfrm>
            <a:off x="3273552" y="3657600"/>
            <a:ext cx="1737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Scale and release services separately.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509BA86-9839-F26C-DF4D-2FD1B68C5BA9}"/>
              </a:ext>
            </a:extLst>
          </p:cNvPr>
          <p:cNvSpPr/>
          <p:nvPr/>
        </p:nvSpPr>
        <p:spPr>
          <a:xfrm>
            <a:off x="5440679" y="2971800"/>
            <a:ext cx="2057400" cy="150876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3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C1222-FEF3-A497-563B-B15F4E3CA57A}"/>
              </a:ext>
            </a:extLst>
          </p:cNvPr>
          <p:cNvSpPr txBox="1"/>
          <p:nvPr/>
        </p:nvSpPr>
        <p:spPr>
          <a:xfrm>
            <a:off x="5577840" y="3246120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29C42"/>
                </a:solidFill>
                <a:latin typeface="Aptos"/>
              </a:rPr>
              <a:t>BALANCE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93B20-3CBE-60C0-4FB6-1E528D2A1A4A}"/>
              </a:ext>
            </a:extLst>
          </p:cNvPr>
          <p:cNvSpPr txBox="1"/>
          <p:nvPr/>
        </p:nvSpPr>
        <p:spPr>
          <a:xfrm>
            <a:off x="5605271" y="3657600"/>
            <a:ext cx="1737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Plan for security, monitoring and complexity.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0B6E3ED-40BA-EF74-038E-748490907C4D}"/>
              </a:ext>
            </a:extLst>
          </p:cNvPr>
          <p:cNvSpPr/>
          <p:nvPr/>
        </p:nvSpPr>
        <p:spPr>
          <a:xfrm>
            <a:off x="8641080" y="1828800"/>
            <a:ext cx="1188720" cy="68580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23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A1A2E4-B540-858D-CD94-221D07500F8F}"/>
              </a:ext>
            </a:extLst>
          </p:cNvPr>
          <p:cNvSpPr/>
          <p:nvPr/>
        </p:nvSpPr>
        <p:spPr>
          <a:xfrm>
            <a:off x="8641080" y="1828800"/>
            <a:ext cx="64008" cy="6858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B807D5-326D-2EC8-F46B-8286C125FD91}"/>
              </a:ext>
            </a:extLst>
          </p:cNvPr>
          <p:cNvSpPr txBox="1"/>
          <p:nvPr/>
        </p:nvSpPr>
        <p:spPr>
          <a:xfrm>
            <a:off x="8787384" y="1956817"/>
            <a:ext cx="9601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>
                <a:solidFill>
                  <a:schemeClr val="bg1"/>
                </a:solidFill>
                <a:latin typeface="Aptos"/>
              </a:rPr>
              <a:t>API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5FED474-4DF2-F2B2-1E31-4D9D6847F75D}"/>
              </a:ext>
            </a:extLst>
          </p:cNvPr>
          <p:cNvSpPr/>
          <p:nvPr/>
        </p:nvSpPr>
        <p:spPr>
          <a:xfrm>
            <a:off x="10104120" y="1828800"/>
            <a:ext cx="1188720" cy="68580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24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709641-E18B-224F-73C9-E3DA2B6C2E31}"/>
              </a:ext>
            </a:extLst>
          </p:cNvPr>
          <p:cNvSpPr/>
          <p:nvPr/>
        </p:nvSpPr>
        <p:spPr>
          <a:xfrm>
            <a:off x="10104120" y="1828800"/>
            <a:ext cx="64008" cy="685800"/>
          </a:xfrm>
          <a:prstGeom prst="rect">
            <a:avLst/>
          </a:prstGeom>
          <a:solidFill>
            <a:srgbClr val="2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C25064-8287-25D8-3226-52AAA3806C78}"/>
              </a:ext>
            </a:extLst>
          </p:cNvPr>
          <p:cNvSpPr txBox="1"/>
          <p:nvPr/>
        </p:nvSpPr>
        <p:spPr>
          <a:xfrm>
            <a:off x="10241280" y="1938528"/>
            <a:ext cx="9601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>
                <a:solidFill>
                  <a:schemeClr val="bg1"/>
                </a:solidFill>
                <a:latin typeface="Aptos"/>
              </a:rPr>
              <a:t>DATA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ADAC201-A9AC-BC40-FCA4-4D9879268FD3}"/>
              </a:ext>
            </a:extLst>
          </p:cNvPr>
          <p:cNvSpPr/>
          <p:nvPr/>
        </p:nvSpPr>
        <p:spPr>
          <a:xfrm>
            <a:off x="8641080" y="3246120"/>
            <a:ext cx="1188720" cy="68580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2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E8B296-E797-4EC7-F60E-2992FC89FC74}"/>
              </a:ext>
            </a:extLst>
          </p:cNvPr>
          <p:cNvSpPr/>
          <p:nvPr/>
        </p:nvSpPr>
        <p:spPr>
          <a:xfrm>
            <a:off x="8641080" y="3246120"/>
            <a:ext cx="64008" cy="685800"/>
          </a:xfrm>
          <a:prstGeom prst="rect">
            <a:avLst/>
          </a:prstGeom>
          <a:solidFill>
            <a:srgbClr val="2F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B849DF-B46D-8146-2C60-AF61639976F5}"/>
              </a:ext>
            </a:extLst>
          </p:cNvPr>
          <p:cNvSpPr txBox="1"/>
          <p:nvPr/>
        </p:nvSpPr>
        <p:spPr>
          <a:xfrm>
            <a:off x="8778240" y="3355848"/>
            <a:ext cx="9601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>
                <a:solidFill>
                  <a:schemeClr val="bg1"/>
                </a:solidFill>
                <a:latin typeface="Aptos"/>
              </a:rPr>
              <a:t>ORDERS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30FDE58-F795-2204-E206-87BC88F05EA8}"/>
              </a:ext>
            </a:extLst>
          </p:cNvPr>
          <p:cNvSpPr/>
          <p:nvPr/>
        </p:nvSpPr>
        <p:spPr>
          <a:xfrm>
            <a:off x="10104120" y="3246120"/>
            <a:ext cx="1188720" cy="68580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F2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414D89-B216-AFF4-2B7F-0D6BCDB0D130}"/>
              </a:ext>
            </a:extLst>
          </p:cNvPr>
          <p:cNvSpPr/>
          <p:nvPr/>
        </p:nvSpPr>
        <p:spPr>
          <a:xfrm>
            <a:off x="10104120" y="3246120"/>
            <a:ext cx="64008" cy="685800"/>
          </a:xfrm>
          <a:prstGeom prst="rect">
            <a:avLst/>
          </a:prstGeom>
          <a:solidFill>
            <a:srgbClr val="F2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7DAD24-4595-CC29-DE00-D5C81C026F6D}"/>
              </a:ext>
            </a:extLst>
          </p:cNvPr>
          <p:cNvSpPr txBox="1"/>
          <p:nvPr/>
        </p:nvSpPr>
        <p:spPr>
          <a:xfrm>
            <a:off x="10241280" y="3355848"/>
            <a:ext cx="9601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>
                <a:solidFill>
                  <a:schemeClr val="bg1"/>
                </a:solidFill>
                <a:latin typeface="Aptos"/>
              </a:rPr>
              <a:t>PAY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1060A39-A443-FDBC-5365-822ED8C04B41}"/>
              </a:ext>
            </a:extLst>
          </p:cNvPr>
          <p:cNvSpPr/>
          <p:nvPr/>
        </p:nvSpPr>
        <p:spPr>
          <a:xfrm>
            <a:off x="9372600" y="4572000"/>
            <a:ext cx="1188720" cy="685800"/>
          </a:xfrm>
          <a:prstGeom prst="roundRect">
            <a:avLst/>
          </a:prstGeom>
          <a:solidFill>
            <a:srgbClr val="1A3053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A0100A-FDE5-3924-9981-81D418CCF3FC}"/>
              </a:ext>
            </a:extLst>
          </p:cNvPr>
          <p:cNvSpPr/>
          <p:nvPr/>
        </p:nvSpPr>
        <p:spPr>
          <a:xfrm>
            <a:off x="9372600" y="4572000"/>
            <a:ext cx="64008" cy="6858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23B874-E162-34F8-917B-E7DD3BEAA9BE}"/>
              </a:ext>
            </a:extLst>
          </p:cNvPr>
          <p:cNvSpPr txBox="1"/>
          <p:nvPr/>
        </p:nvSpPr>
        <p:spPr>
          <a:xfrm>
            <a:off x="9509760" y="4681728"/>
            <a:ext cx="9601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>
                <a:solidFill>
                  <a:schemeClr val="bg1"/>
                </a:solidFill>
                <a:latin typeface="Aptos"/>
              </a:rPr>
              <a:t>CLOUD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A4C3CE66-4B46-B253-C4D7-CBE136B8CD05}"/>
              </a:ext>
            </a:extLst>
          </p:cNvPr>
          <p:cNvCxnSpPr/>
          <p:nvPr/>
        </p:nvCxnSpPr>
        <p:spPr>
          <a:xfrm>
            <a:off x="9235440" y="2176272"/>
            <a:ext cx="822960" cy="0"/>
          </a:xfrm>
          <a:prstGeom prst="line">
            <a:avLst/>
          </a:prstGeom>
          <a:ln w="15240">
            <a:solidFill>
              <a:srgbClr val="5F7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A5FE555F-30DD-EED3-B852-117C56975B0E}"/>
              </a:ext>
            </a:extLst>
          </p:cNvPr>
          <p:cNvCxnSpPr/>
          <p:nvPr/>
        </p:nvCxnSpPr>
        <p:spPr>
          <a:xfrm>
            <a:off x="9235440" y="3566160"/>
            <a:ext cx="822960" cy="0"/>
          </a:xfrm>
          <a:prstGeom prst="line">
            <a:avLst/>
          </a:prstGeom>
          <a:ln w="15240">
            <a:solidFill>
              <a:srgbClr val="5F7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EB071962-86E5-6413-71A6-F4F0DE11E056}"/>
              </a:ext>
            </a:extLst>
          </p:cNvPr>
          <p:cNvCxnSpPr/>
          <p:nvPr/>
        </p:nvCxnSpPr>
        <p:spPr>
          <a:xfrm>
            <a:off x="9235440" y="3886200"/>
            <a:ext cx="594360" cy="640080"/>
          </a:xfrm>
          <a:prstGeom prst="line">
            <a:avLst/>
          </a:prstGeom>
          <a:ln w="15240">
            <a:solidFill>
              <a:srgbClr val="5F7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248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0E974-2197-2020-A315-71D1B932E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58" y="630936"/>
            <a:ext cx="7485126" cy="574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0363E-7195-66C1-0896-1038BF5D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17" y="1051561"/>
            <a:ext cx="11216753" cy="492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02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727</Words>
  <Application>Microsoft Office PowerPoint</Application>
  <PresentationFormat>Widescreen</PresentationFormat>
  <Paragraphs>172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G KAVIYA</cp:lastModifiedBy>
  <cp:revision>5</cp:revision>
  <dcterms:created xsi:type="dcterms:W3CDTF">2013-01-27T09:14:16Z</dcterms:created>
  <dcterms:modified xsi:type="dcterms:W3CDTF">2026-10-14T07:25:41Z</dcterms:modified>
  <cp:category/>
</cp:coreProperties>
</file>